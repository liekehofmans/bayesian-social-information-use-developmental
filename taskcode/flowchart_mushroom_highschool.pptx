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34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3409-E0DF-AF86-CA09-D346863EB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86AAD-20DD-8BD1-74E7-255FC1A34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97643-BA55-3BC6-4A0B-0ABC8668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53ACF-EB64-808D-73F5-F02BC93D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21845-63A2-EA71-3B22-5C03BD15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04F0-0E1B-F3CE-CEE3-73C718BD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56FED-AC81-1629-9D07-04338276F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9A7CF-6BFD-7C9E-6DA0-DBBFB070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5975-D1EA-7EE6-2C6B-4B2404F6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5E9FF-70BC-7543-A24D-FF89ADDA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0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28A5-352D-487D-FAC8-3ED46EBF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DDDE4-BD51-2E4F-711B-B6DF91DF3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B0FAA-02C4-2B48-06C6-1FB7FF1B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665A6-F152-C489-E034-941E7860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0A649-E842-9E50-C727-D1BA1DAF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66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3226-BAB1-E0E3-BFA9-1A907309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230D-226F-A3CB-14C4-6721B68DD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ABCCA-E4E2-204B-ED58-DB5D439CD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DD81B-908E-7550-CEEE-59DA1F93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7B18D-106F-E2BE-1BB0-33D808997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04352-A1A3-D2EA-BBF9-3AB7A1E8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8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F0D5-DB6B-2785-E206-2239817F1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07836-CCBF-FD2D-19CF-FA87172D1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314C7-2346-58D0-57B4-C92218DDA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4F71F-8DC1-6A9D-F509-344A229C8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F946A-437A-4171-6EC3-CD598397E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96291-A996-2FD3-41D5-87DC875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E58F1-900A-1A9F-E73C-94C151D0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75479D-D475-8F30-C00F-B53721F2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5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5F62-5883-510F-A3FE-168E3A54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B6589-D6E2-D144-88E5-2435C982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0CA7A-5AB1-0699-B706-0BE497B1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ECB24-9961-9025-F40D-FE1134B2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4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1BF7C-8BAD-24F5-27A6-7DBFD2B6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D77B6-A505-CBE5-3777-999D63DF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33BDA-4B34-9D2E-4667-9ACB84C6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3322-38DC-97F7-04BF-8AFDB24FE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8204-05B6-F7C3-E2C8-3667BA4D8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BCD18-DB27-848C-7A4A-B5F674863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027B9-88B3-16A0-5678-BBDE6BB6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1B559-0D83-90E0-54BC-6F4A9605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49F8A-57AF-49B4-5AD4-CA40BDA7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1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8ED9-5EB1-B94C-FD75-5A900970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0B647-D64F-B701-2D0F-A28F227E3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1582B-7897-CE88-AAA3-2F877E24B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CA1A4-6ABE-8730-8947-953C9FAF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8507E-763A-619E-BC16-8543C38A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A91F2-8200-0700-4311-F89F9DBE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1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E7CD-AA81-0EEA-7DCC-83157D0FE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D91A2-80B7-8057-588B-71B62D02F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0D3FE-67A5-6449-060D-808E5543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9790-EE8A-D39D-D127-78BB1D76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754EE-F316-FB54-B5FF-25D2006D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5C967-C8D2-160C-4D36-A365BCF4F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7A621-8585-9262-3434-256F8FC66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F7781-8599-6D8F-AF6B-65D1BE11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64A2E-2C92-8AAF-4DFD-A2DEE26E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9A37B-5C37-D58A-E08B-D2F3B93C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3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0EE5A-0F07-79DF-BD88-3CC0EE60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D935B-0B29-8451-6B25-AF0002FDE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A648B-AB39-E3B2-943C-0F377FC2A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736B1-4CCE-4550-8E04-31900FA3978F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010E-E873-2F38-6519-EFC5678D7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E96A-A449-BB5F-7DCB-7306716D7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648E4-E178-432A-B13A-AB77C900B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7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7">
            <a:extLst>
              <a:ext uri="{FF2B5EF4-FFF2-40B4-BE49-F238E27FC236}">
                <a16:creationId xmlns:a16="http://schemas.microsoft.com/office/drawing/2014/main" id="{623356E1-29F5-6692-7FB6-F18486598C40}"/>
              </a:ext>
            </a:extLst>
          </p:cNvPr>
          <p:cNvSpPr txBox="1"/>
          <p:nvPr/>
        </p:nvSpPr>
        <p:spPr>
          <a:xfrm>
            <a:off x="2704089" y="895843"/>
            <a:ext cx="2071112" cy="110799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100" i="1" dirty="0"/>
              <a:t>Recruitment</a:t>
            </a:r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E35ABA-F096-6256-AC58-53B1223B0D21}"/>
              </a:ext>
            </a:extLst>
          </p:cNvPr>
          <p:cNvSpPr txBox="1"/>
          <p:nvPr/>
        </p:nvSpPr>
        <p:spPr>
          <a:xfrm>
            <a:off x="140904" y="895843"/>
            <a:ext cx="2272329" cy="110799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100" i="1" dirty="0"/>
              <a:t>Data collection online</a:t>
            </a:r>
          </a:p>
          <a:p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D7A890-D97B-0933-530E-463DE5BE6133}"/>
              </a:ext>
            </a:extLst>
          </p:cNvPr>
          <p:cNvSpPr txBox="1"/>
          <p:nvPr/>
        </p:nvSpPr>
        <p:spPr>
          <a:xfrm>
            <a:off x="4964999" y="895843"/>
            <a:ext cx="6528500" cy="466281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100" i="1" dirty="0"/>
              <a:t>Data collection MRI</a:t>
            </a:r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DB55C7-7E7A-8E65-FB4F-F8CDBE94062F}"/>
              </a:ext>
            </a:extLst>
          </p:cNvPr>
          <p:cNvSpPr txBox="1"/>
          <p:nvPr/>
        </p:nvSpPr>
        <p:spPr>
          <a:xfrm>
            <a:off x="184255" y="2897803"/>
            <a:ext cx="2231541" cy="34778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100" i="1" dirty="0"/>
              <a:t>Recruitment</a:t>
            </a:r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B8A99E-7173-D5E7-2CF2-95362C542A51}"/>
              </a:ext>
            </a:extLst>
          </p:cNvPr>
          <p:cNvSpPr txBox="1"/>
          <p:nvPr/>
        </p:nvSpPr>
        <p:spPr>
          <a:xfrm>
            <a:off x="7364569" y="1342470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Mushroom (</a:t>
            </a:r>
            <a:r>
              <a:rPr lang="en-US" sz="1400" dirty="0" err="1"/>
              <a:t>Psychopy</a:t>
            </a:r>
            <a:r>
              <a:rPr lang="en-US" sz="1400" dirty="0"/>
              <a:t> / fMRI)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C8483E-8522-2EE7-F3B4-1A15AAB811C3}"/>
              </a:ext>
            </a:extLst>
          </p:cNvPr>
          <p:cNvSpPr txBox="1"/>
          <p:nvPr/>
        </p:nvSpPr>
        <p:spPr>
          <a:xfrm>
            <a:off x="356448" y="1343690"/>
            <a:ext cx="1681200" cy="5220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Social Media (Qualtrics)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754D06-5C13-C6E7-47A4-92B66B355606}"/>
              </a:ext>
            </a:extLst>
          </p:cNvPr>
          <p:cNvSpPr txBox="1"/>
          <p:nvPr/>
        </p:nvSpPr>
        <p:spPr>
          <a:xfrm>
            <a:off x="356448" y="3205409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Parental informed consent (Qualtrics)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F5D053-50F6-396A-EABA-4D74262B2DF3}"/>
              </a:ext>
            </a:extLst>
          </p:cNvPr>
          <p:cNvSpPr txBox="1"/>
          <p:nvPr/>
        </p:nvSpPr>
        <p:spPr>
          <a:xfrm>
            <a:off x="356448" y="4275872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Informed consent (Qualtrics)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B1B331-FD06-BF6A-878C-E3F728536DAF}"/>
              </a:ext>
            </a:extLst>
          </p:cNvPr>
          <p:cNvSpPr txBox="1"/>
          <p:nvPr/>
        </p:nvSpPr>
        <p:spPr>
          <a:xfrm>
            <a:off x="2893887" y="1343690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Schedule MRI session</a:t>
            </a: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EC64294-1982-9596-4AE3-52107605526A}"/>
              </a:ext>
            </a:extLst>
          </p:cNvPr>
          <p:cNvCxnSpPr>
            <a:cxnSpLocks/>
            <a:stCxn id="114" idx="0"/>
            <a:endCxn id="28" idx="2"/>
          </p:cNvCxnSpPr>
          <p:nvPr/>
        </p:nvCxnSpPr>
        <p:spPr>
          <a:xfrm flipH="1" flipV="1">
            <a:off x="1197048" y="4799092"/>
            <a:ext cx="2728" cy="546228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1229C2-16FA-FAD4-9041-4A713D33CA2B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V="1">
            <a:off x="1197048" y="3728629"/>
            <a:ext cx="0" cy="547243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040973D-467D-56C0-7330-35CEE502607E}"/>
              </a:ext>
            </a:extLst>
          </p:cNvPr>
          <p:cNvSpPr txBox="1"/>
          <p:nvPr/>
        </p:nvSpPr>
        <p:spPr>
          <a:xfrm>
            <a:off x="1266664" y="3767514"/>
            <a:ext cx="1199103" cy="45031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800"/>
              <a:t>https://uva.fra1.qualtrics.com/jfe/form/SV_2fX3HRHRsqWh8rQ</a:t>
            </a:r>
            <a:endParaRPr lang="en-US" sz="8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F30649-16EB-40EE-FA83-013C1D27045D}"/>
              </a:ext>
            </a:extLst>
          </p:cNvPr>
          <p:cNvCxnSpPr>
            <a:cxnSpLocks/>
            <a:stCxn id="27" idx="0"/>
            <a:endCxn id="25" idx="2"/>
          </p:cNvCxnSpPr>
          <p:nvPr/>
        </p:nvCxnSpPr>
        <p:spPr>
          <a:xfrm flipV="1">
            <a:off x="1197048" y="1865690"/>
            <a:ext cx="0" cy="1339719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037564DA-722C-A53D-D539-128F308D5CC0}"/>
              </a:ext>
            </a:extLst>
          </p:cNvPr>
          <p:cNvSpPr txBox="1"/>
          <p:nvPr/>
        </p:nvSpPr>
        <p:spPr>
          <a:xfrm>
            <a:off x="361906" y="5345320"/>
            <a:ext cx="1675742" cy="5220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Flyer session 1</a:t>
            </a:r>
            <a:endParaRPr 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DFD0968-445B-2FEC-5E84-60B62ADF4B4F}"/>
              </a:ext>
            </a:extLst>
          </p:cNvPr>
          <p:cNvSpPr txBox="1"/>
          <p:nvPr/>
        </p:nvSpPr>
        <p:spPr>
          <a:xfrm>
            <a:off x="1257475" y="4857134"/>
            <a:ext cx="1155758" cy="604204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800" dirty="0"/>
              <a:t>https://uva.fra1.qualtrics.com/jfe/form/SV_1Uq2OZNLOeQk6y2</a:t>
            </a:r>
          </a:p>
          <a:p>
            <a:pPr>
              <a:lnSpc>
                <a:spcPts val="1200"/>
              </a:lnSpc>
            </a:pPr>
            <a:r>
              <a:rPr lang="en-US" sz="800" dirty="0"/>
              <a:t> </a:t>
            </a:r>
          </a:p>
        </p:txBody>
      </p:sp>
      <p:pic>
        <p:nvPicPr>
          <p:cNvPr id="1026" name="Picture 2" descr="Start stop buttons. Illustration of start and stop button icons , #AFF,  #buttons, #stop, #Start, #Illustration, #icons #a… | Creative posters,  Illustration, Buttons">
            <a:extLst>
              <a:ext uri="{FF2B5EF4-FFF2-40B4-BE49-F238E27FC236}">
                <a16:creationId xmlns:a16="http://schemas.microsoft.com/office/drawing/2014/main" id="{ED445B0D-6A7F-CD3D-F2D4-902990C8E5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02"/>
          <a:stretch/>
        </p:blipFill>
        <p:spPr bwMode="auto">
          <a:xfrm>
            <a:off x="184255" y="5742971"/>
            <a:ext cx="776105" cy="77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1A534E75-1BF7-38F1-B6ED-6D997C08022E}"/>
              </a:ext>
            </a:extLst>
          </p:cNvPr>
          <p:cNvSpPr txBox="1"/>
          <p:nvPr/>
        </p:nvSpPr>
        <p:spPr>
          <a:xfrm>
            <a:off x="0" y="2043"/>
            <a:ext cx="12192000" cy="7386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Mushroom study high school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A18F2-1B08-74AD-9E9D-F570749D2378}"/>
              </a:ext>
            </a:extLst>
          </p:cNvPr>
          <p:cNvSpPr txBox="1"/>
          <p:nvPr/>
        </p:nvSpPr>
        <p:spPr>
          <a:xfrm>
            <a:off x="10589685" y="6146880"/>
            <a:ext cx="1572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2"/>
                </a:solidFill>
              </a:rPr>
              <a:t>To do / check</a:t>
            </a:r>
          </a:p>
          <a:p>
            <a:pPr algn="r"/>
            <a:r>
              <a:rPr lang="en-US" sz="1400" dirty="0">
                <a:solidFill>
                  <a:schemeClr val="accent6"/>
                </a:solidFill>
              </a:rPr>
              <a:t>Ready</a:t>
            </a:r>
          </a:p>
          <a:p>
            <a:pPr algn="r"/>
            <a:r>
              <a:rPr lang="en-US" sz="1400" dirty="0"/>
              <a:t>Manually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B59ED-1499-9AC3-B2FD-0F982AF5F6B3}"/>
              </a:ext>
            </a:extLst>
          </p:cNvPr>
          <p:cNvSpPr txBox="1"/>
          <p:nvPr/>
        </p:nvSpPr>
        <p:spPr>
          <a:xfrm>
            <a:off x="1240318" y="5872659"/>
            <a:ext cx="1303451" cy="615553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 dirty="0"/>
              <a:t>Instagram </a:t>
            </a:r>
          </a:p>
          <a:p>
            <a:pPr>
              <a:lnSpc>
                <a:spcPts val="1200"/>
              </a:lnSpc>
            </a:pPr>
            <a:r>
              <a:rPr lang="en-US" sz="1000" dirty="0"/>
              <a:t>Schools </a:t>
            </a:r>
          </a:p>
          <a:p>
            <a:pPr>
              <a:lnSpc>
                <a:spcPts val="1200"/>
              </a:lnSpc>
            </a:pPr>
            <a:r>
              <a:rPr lang="en-US" sz="1000" dirty="0"/>
              <a:t>Sports clubs  </a:t>
            </a:r>
          </a:p>
          <a:p>
            <a:pPr>
              <a:lnSpc>
                <a:spcPts val="1200"/>
              </a:lnSpc>
            </a:pPr>
            <a:r>
              <a:rPr lang="en-US" sz="1000" dirty="0"/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21C5-8059-75B6-E332-97596A727F52}"/>
              </a:ext>
            </a:extLst>
          </p:cNvPr>
          <p:cNvSpPr txBox="1"/>
          <p:nvPr/>
        </p:nvSpPr>
        <p:spPr>
          <a:xfrm>
            <a:off x="5120305" y="1342470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Mushroom practice (</a:t>
            </a:r>
            <a:r>
              <a:rPr lang="en-US" sz="1400" dirty="0" err="1"/>
              <a:t>Psychopy</a:t>
            </a:r>
            <a:r>
              <a:rPr lang="en-US" sz="1400" dirty="0"/>
              <a:t>)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EFEA30-DF86-9309-F3F8-2AE6BE7C2A30}"/>
              </a:ext>
            </a:extLst>
          </p:cNvPr>
          <p:cNvSpPr txBox="1"/>
          <p:nvPr/>
        </p:nvSpPr>
        <p:spPr>
          <a:xfrm>
            <a:off x="9608833" y="1342470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Spatial working memory (</a:t>
            </a:r>
            <a:r>
              <a:rPr lang="en-US" sz="1400" dirty="0" err="1"/>
              <a:t>Psychopy</a:t>
            </a:r>
            <a:r>
              <a:rPr lang="en-US" sz="1400" dirty="0"/>
              <a:t>)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72230F-22B2-9EF9-5A51-67B4E6BD3DD9}"/>
              </a:ext>
            </a:extLst>
          </p:cNvPr>
          <p:cNvSpPr txBox="1"/>
          <p:nvPr/>
        </p:nvSpPr>
        <p:spPr>
          <a:xfrm>
            <a:off x="9608833" y="2459646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Reversal learning (</a:t>
            </a:r>
            <a:r>
              <a:rPr lang="en-US" sz="1400" dirty="0" err="1"/>
              <a:t>Psychopy</a:t>
            </a:r>
            <a:r>
              <a:rPr lang="en-US" sz="1400" dirty="0"/>
              <a:t>)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0A6487-F685-4817-C9A9-76E9FF633E16}"/>
              </a:ext>
            </a:extLst>
          </p:cNvPr>
          <p:cNvSpPr txBox="1"/>
          <p:nvPr/>
        </p:nvSpPr>
        <p:spPr>
          <a:xfrm>
            <a:off x="9608833" y="3533786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Information search (</a:t>
            </a:r>
            <a:r>
              <a:rPr lang="en-US" sz="1400" dirty="0" err="1"/>
              <a:t>Neurotask</a:t>
            </a:r>
            <a:r>
              <a:rPr lang="en-US" sz="1400" dirty="0"/>
              <a:t>)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A4A77E-3EDF-6BA2-E0F9-DF69B0AD0370}"/>
              </a:ext>
            </a:extLst>
          </p:cNvPr>
          <p:cNvSpPr txBox="1"/>
          <p:nvPr/>
        </p:nvSpPr>
        <p:spPr>
          <a:xfrm>
            <a:off x="9608833" y="4595739"/>
            <a:ext cx="16812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BEAST social (Lioness)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5B2D5F-BF33-D366-471F-241D1F7FD27F}"/>
              </a:ext>
            </a:extLst>
          </p:cNvPr>
          <p:cNvSpPr txBox="1"/>
          <p:nvPr/>
        </p:nvSpPr>
        <p:spPr>
          <a:xfrm>
            <a:off x="1325159" y="2057479"/>
            <a:ext cx="834814" cy="769441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/>
              <a:t>https://uva.fra1.qualtrics.com/jfe/form/SV_bIaJct3N4cvToLY</a:t>
            </a:r>
            <a:endParaRPr lang="en-US" sz="1000" dirty="0"/>
          </a:p>
        </p:txBody>
      </p:sp>
      <p:pic>
        <p:nvPicPr>
          <p:cNvPr id="1028" name="Picture 4" descr="Start finish flags isolated icon on white Vector Image">
            <a:extLst>
              <a:ext uri="{FF2B5EF4-FFF2-40B4-BE49-F238E27FC236}">
                <a16:creationId xmlns:a16="http://schemas.microsoft.com/office/drawing/2014/main" id="{2DECB603-AE89-4A08-648B-D4D20A42B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47" b="15774"/>
          <a:stretch/>
        </p:blipFill>
        <p:spPr bwMode="auto">
          <a:xfrm>
            <a:off x="10257449" y="4811856"/>
            <a:ext cx="1572645" cy="86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0FCA546-A87F-47BE-D623-BA28990C4AEA}"/>
              </a:ext>
            </a:extLst>
          </p:cNvPr>
          <p:cNvCxnSpPr>
            <a:cxnSpLocks/>
            <a:stCxn id="41" idx="3"/>
            <a:endCxn id="24" idx="1"/>
          </p:cNvCxnSpPr>
          <p:nvPr/>
        </p:nvCxnSpPr>
        <p:spPr>
          <a:xfrm>
            <a:off x="6801505" y="1604080"/>
            <a:ext cx="56306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05A871-A55D-E742-C0E2-FC04E3BE3888}"/>
              </a:ext>
            </a:extLst>
          </p:cNvPr>
          <p:cNvCxnSpPr>
            <a:cxnSpLocks/>
            <a:stCxn id="24" idx="3"/>
            <a:endCxn id="45" idx="1"/>
          </p:cNvCxnSpPr>
          <p:nvPr/>
        </p:nvCxnSpPr>
        <p:spPr>
          <a:xfrm>
            <a:off x="9045769" y="1604080"/>
            <a:ext cx="56306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5F306B1-A822-6AE0-41EE-901DF044B246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10449433" y="1865690"/>
            <a:ext cx="0" cy="59395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1AAB174-B31E-DF5D-2CBD-6EFB58242AC1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0449433" y="2982866"/>
            <a:ext cx="0" cy="55092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6B66ED2-B3A0-F003-B7A0-7177ACA34F59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>
            <a:off x="10449433" y="4057006"/>
            <a:ext cx="0" cy="53873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C83900E-808F-C28B-992D-11BCB184F62A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 flipV="1">
            <a:off x="4575087" y="1604080"/>
            <a:ext cx="545218" cy="122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05165C2-8AE3-AF94-DD9A-3892A95F4F6F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2037648" y="1604690"/>
            <a:ext cx="856239" cy="61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5925DA5-E026-21E9-DC17-796289E7AF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6" t="9292" r="9534" b="8800"/>
          <a:stretch/>
        </p:blipFill>
        <p:spPr>
          <a:xfrm>
            <a:off x="503662" y="4832350"/>
            <a:ext cx="489920" cy="49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80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74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Lieke Hofmans</dc:creator>
  <cp:lastModifiedBy>Lieke Hofmans</cp:lastModifiedBy>
  <cp:revision>13</cp:revision>
  <dcterms:created xsi:type="dcterms:W3CDTF">2022-12-27T14:15:13Z</dcterms:created>
  <dcterms:modified xsi:type="dcterms:W3CDTF">2023-02-01T13:09:16Z</dcterms:modified>
</cp:coreProperties>
</file>